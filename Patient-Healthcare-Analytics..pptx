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Barlow" panose="020F0502020204030204" pitchFamily="2" charset="0"/>
      <p:regular r:id="rId13"/>
    </p:embeddedFont>
    <p:embeddedFont>
      <p:font typeface="Consolas" panose="020B0609020204030204" pitchFamily="49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7162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0023" y="1639565"/>
            <a:ext cx="4594027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7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Patient Healthcare Analytics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40023" y="2299618"/>
            <a:ext cx="4634954" cy="740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 end-to-end analytics workflow using </a:t>
            </a:r>
            <a:r>
              <a:rPr lang="en-US" sz="120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Python, SQL, and Power BI</a:t>
            </a: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transforming raw healthcare data into actionable insights and interactive dashboards.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0023" y="3213869"/>
            <a:ext cx="1417960" cy="290066"/>
          </a:xfrm>
          <a:prstGeom prst="roundRect">
            <a:avLst>
              <a:gd name="adj" fmla="val 63836"/>
            </a:avLst>
          </a:prstGeom>
          <a:solidFill>
            <a:srgbClr val="004D36"/>
          </a:solidFill>
          <a:ln/>
        </p:spPr>
      </p:sp>
      <p:sp>
        <p:nvSpPr>
          <p:cNvPr id="6" name="Text 3"/>
          <p:cNvSpPr/>
          <p:nvPr/>
        </p:nvSpPr>
        <p:spPr>
          <a:xfrm>
            <a:off x="632594" y="3260154"/>
            <a:ext cx="1232818" cy="197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BY BHUMIKA TALWARE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7229" y="392534"/>
            <a:ext cx="2930500" cy="354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The Business Problem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47229" y="906214"/>
            <a:ext cx="4820543" cy="560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Hospitals generate massive datasets daily but struggle to extract value from them. Without proper analysis, organizations cannot identify treatment trends, monitor patient outcomes, track abnormal lab tests, or optimize operations.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47229" y="1585764"/>
            <a:ext cx="4820543" cy="711919"/>
          </a:xfrm>
          <a:prstGeom prst="roundRect">
            <a:avLst>
              <a:gd name="adj" fmla="val 26924"/>
            </a:avLst>
          </a:prstGeom>
          <a:solidFill>
            <a:srgbClr val="0A081B"/>
          </a:solidFill>
          <a:ln w="14288">
            <a:solidFill>
              <a:srgbClr val="16FFB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9285" y="1727820"/>
            <a:ext cx="1419820" cy="177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Analyze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89285" y="1968773"/>
            <a:ext cx="4536430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Healthcare data using SQL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47229" y="2403500"/>
            <a:ext cx="4820543" cy="711919"/>
          </a:xfrm>
          <a:prstGeom prst="roundRect">
            <a:avLst>
              <a:gd name="adj" fmla="val 26924"/>
            </a:avLst>
          </a:prstGeom>
          <a:solidFill>
            <a:srgbClr val="0A081B"/>
          </a:solidFill>
          <a:ln w="14288">
            <a:solidFill>
              <a:srgbClr val="29DDD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9285" y="2545556"/>
            <a:ext cx="1419820" cy="177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Generate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9285" y="2786509"/>
            <a:ext cx="4536430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Actionable KPIs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47229" y="3221236"/>
            <a:ext cx="4820543" cy="711919"/>
          </a:xfrm>
          <a:prstGeom prst="roundRect">
            <a:avLst>
              <a:gd name="adj" fmla="val 26924"/>
            </a:avLst>
          </a:prstGeom>
          <a:solidFill>
            <a:srgbClr val="0A081B"/>
          </a:solidFill>
          <a:ln w="14288">
            <a:solidFill>
              <a:srgbClr val="37A7E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9285" y="3363292"/>
            <a:ext cx="1419820" cy="177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Visualize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89285" y="3604245"/>
            <a:ext cx="4536430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Performance in Power BI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47229" y="4038972"/>
            <a:ext cx="4820543" cy="711919"/>
          </a:xfrm>
          <a:prstGeom prst="roundRect">
            <a:avLst>
              <a:gd name="adj" fmla="val 26924"/>
            </a:avLst>
          </a:prstGeom>
          <a:solidFill>
            <a:srgbClr val="0A081B"/>
          </a:solidFill>
          <a:ln w="14288">
            <a:solidFill>
              <a:srgbClr val="09123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9285" y="4181029"/>
            <a:ext cx="1419820" cy="177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Improve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89285" y="4421981"/>
            <a:ext cx="4536430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Decision-making with data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18766" y="322064"/>
            <a:ext cx="2357438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Dataset Summary</a:t>
            </a:r>
            <a:endParaRPr lang="en-US" sz="1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766" y="808137"/>
            <a:ext cx="4138612" cy="24831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20953" y="1834828"/>
            <a:ext cx="2108969" cy="429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project uses </a:t>
            </a:r>
            <a:r>
              <a:rPr lang="en-US" sz="80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five relational tables</a:t>
            </a: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covering the full patient journey from registration to lab results.</a:t>
            </a:r>
            <a:endParaRPr lang="en-US" sz="800" dirty="0"/>
          </a:p>
        </p:txBody>
      </p:sp>
      <p:sp>
        <p:nvSpPr>
          <p:cNvPr id="5" name="Shape 2"/>
          <p:cNvSpPr/>
          <p:nvPr/>
        </p:nvSpPr>
        <p:spPr>
          <a:xfrm>
            <a:off x="1318766" y="3455268"/>
            <a:ext cx="1571923" cy="718245"/>
          </a:xfrm>
          <a:prstGeom prst="roundRect">
            <a:avLst>
              <a:gd name="adj" fmla="val 9548"/>
            </a:avLst>
          </a:prstGeom>
          <a:solidFill>
            <a:srgbClr val="0A081B">
              <a:alpha val="75000"/>
            </a:srgbClr>
          </a:solidFill>
          <a:ln w="14288">
            <a:solidFill>
              <a:srgbClr val="16FFB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304479" y="3455268"/>
            <a:ext cx="57150" cy="718245"/>
          </a:xfrm>
          <a:prstGeom prst="roundRect">
            <a:avLst>
              <a:gd name="adj" fmla="val 278438"/>
            </a:avLst>
          </a:prstGeom>
          <a:solidFill>
            <a:srgbClr val="16FFBB"/>
          </a:solidFill>
          <a:ln/>
        </p:spPr>
      </p:sp>
      <p:sp>
        <p:nvSpPr>
          <p:cNvPr id="7" name="Text 4"/>
          <p:cNvSpPr/>
          <p:nvPr/>
        </p:nvSpPr>
        <p:spPr>
          <a:xfrm>
            <a:off x="1481956" y="3575596"/>
            <a:ext cx="1178719" cy="147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Patient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481956" y="3766691"/>
            <a:ext cx="1288405" cy="286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Demographics, age, gender, blood type, state, insurance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963614" y="3455268"/>
            <a:ext cx="1571923" cy="718245"/>
          </a:xfrm>
          <a:prstGeom prst="roundRect">
            <a:avLst>
              <a:gd name="adj" fmla="val 9548"/>
            </a:avLst>
          </a:prstGeom>
          <a:solidFill>
            <a:srgbClr val="0A081B">
              <a:alpha val="75000"/>
            </a:srgbClr>
          </a:solidFill>
          <a:ln w="14288">
            <a:solidFill>
              <a:srgbClr val="29DDD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949327" y="3455268"/>
            <a:ext cx="57150" cy="718245"/>
          </a:xfrm>
          <a:prstGeom prst="roundRect">
            <a:avLst>
              <a:gd name="adj" fmla="val 278438"/>
            </a:avLst>
          </a:prstGeom>
          <a:solidFill>
            <a:srgbClr val="29DDDA"/>
          </a:solidFill>
          <a:ln/>
        </p:spPr>
      </p:sp>
      <p:sp>
        <p:nvSpPr>
          <p:cNvPr id="11" name="Text 8"/>
          <p:cNvSpPr/>
          <p:nvPr/>
        </p:nvSpPr>
        <p:spPr>
          <a:xfrm>
            <a:off x="3126804" y="3575596"/>
            <a:ext cx="1178719" cy="147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Doctor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126804" y="3766691"/>
            <a:ext cx="1288405" cy="143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Specialties and experience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608463" y="3455268"/>
            <a:ext cx="1571923" cy="718245"/>
          </a:xfrm>
          <a:prstGeom prst="roundRect">
            <a:avLst>
              <a:gd name="adj" fmla="val 9548"/>
            </a:avLst>
          </a:prstGeom>
          <a:solidFill>
            <a:srgbClr val="0A081B">
              <a:alpha val="75000"/>
            </a:srgbClr>
          </a:solidFill>
          <a:ln w="14288">
            <a:solidFill>
              <a:srgbClr val="37A7E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94175" y="3455268"/>
            <a:ext cx="57150" cy="718245"/>
          </a:xfrm>
          <a:prstGeom prst="roundRect">
            <a:avLst>
              <a:gd name="adj" fmla="val 278438"/>
            </a:avLst>
          </a:prstGeom>
          <a:solidFill>
            <a:srgbClr val="37A7E7"/>
          </a:solidFill>
          <a:ln/>
        </p:spPr>
      </p:sp>
      <p:sp>
        <p:nvSpPr>
          <p:cNvPr id="15" name="Text 12"/>
          <p:cNvSpPr/>
          <p:nvPr/>
        </p:nvSpPr>
        <p:spPr>
          <a:xfrm>
            <a:off x="4771653" y="3575596"/>
            <a:ext cx="1178719" cy="147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Visit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771653" y="3766691"/>
            <a:ext cx="1288405" cy="143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Visit records and diagnoses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6253311" y="3455268"/>
            <a:ext cx="1571923" cy="718245"/>
          </a:xfrm>
          <a:prstGeom prst="roundRect">
            <a:avLst>
              <a:gd name="adj" fmla="val 9548"/>
            </a:avLst>
          </a:prstGeom>
          <a:solidFill>
            <a:srgbClr val="0A081B">
              <a:alpha val="75000"/>
            </a:srgbClr>
          </a:solidFill>
          <a:ln w="14288">
            <a:solidFill>
              <a:srgbClr val="09123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239024" y="3455268"/>
            <a:ext cx="57150" cy="718245"/>
          </a:xfrm>
          <a:prstGeom prst="roundRect">
            <a:avLst>
              <a:gd name="adj" fmla="val 278438"/>
            </a:avLst>
          </a:prstGeom>
          <a:solidFill>
            <a:srgbClr val="091231"/>
          </a:solidFill>
          <a:ln/>
        </p:spPr>
      </p:sp>
      <p:sp>
        <p:nvSpPr>
          <p:cNvPr id="19" name="Text 16"/>
          <p:cNvSpPr/>
          <p:nvPr/>
        </p:nvSpPr>
        <p:spPr>
          <a:xfrm>
            <a:off x="6416501" y="3575596"/>
            <a:ext cx="1178719" cy="147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Treatment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416501" y="3766691"/>
            <a:ext cx="1288405" cy="143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Cost and outcomes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1318766" y="4246438"/>
            <a:ext cx="1571923" cy="574997"/>
          </a:xfrm>
          <a:prstGeom prst="roundRect">
            <a:avLst>
              <a:gd name="adj" fmla="val 11927"/>
            </a:avLst>
          </a:prstGeom>
          <a:solidFill>
            <a:srgbClr val="0A081B">
              <a:alpha val="75000"/>
            </a:srgbClr>
          </a:solidFill>
          <a:ln w="14288">
            <a:solidFill>
              <a:srgbClr val="16FFB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304479" y="4246438"/>
            <a:ext cx="57150" cy="574997"/>
          </a:xfrm>
          <a:prstGeom prst="roundRect">
            <a:avLst>
              <a:gd name="adj" fmla="val 278438"/>
            </a:avLst>
          </a:prstGeom>
          <a:solidFill>
            <a:srgbClr val="16FFBB"/>
          </a:solidFill>
          <a:ln/>
        </p:spPr>
      </p:sp>
      <p:sp>
        <p:nvSpPr>
          <p:cNvPr id="23" name="Text 20"/>
          <p:cNvSpPr/>
          <p:nvPr/>
        </p:nvSpPr>
        <p:spPr>
          <a:xfrm>
            <a:off x="1481956" y="4366766"/>
            <a:ext cx="1178719" cy="147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Lab Test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481956" y="4557861"/>
            <a:ext cx="1288405" cy="143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Results and abnormalities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6313" y="407491"/>
            <a:ext cx="3214688" cy="401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Tools &amp; Technologies</a:t>
            </a:r>
            <a:endParaRPr lang="en-US" sz="2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6313" y="1080567"/>
            <a:ext cx="361652" cy="3616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6313" y="1611734"/>
            <a:ext cx="1607344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Python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06313" y="1893987"/>
            <a:ext cx="3980929" cy="22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Data cleaning &amp; preprocessing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56758" y="1080567"/>
            <a:ext cx="361652" cy="3616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56758" y="1611734"/>
            <a:ext cx="1607344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Pandas &amp; NumPy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4656758" y="1893987"/>
            <a:ext cx="3980929" cy="22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Data manipulation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6313" y="2389436"/>
            <a:ext cx="361652" cy="36165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06313" y="2920603"/>
            <a:ext cx="1607344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SQL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506313" y="3202856"/>
            <a:ext cx="3980929" cy="22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Data querying &amp; KPI analysis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56758" y="2389436"/>
            <a:ext cx="361652" cy="36165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656758" y="2920603"/>
            <a:ext cx="1607344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Power BI</a:t>
            </a:r>
            <a:endParaRPr lang="en-US" sz="1250" dirty="0"/>
          </a:p>
        </p:txBody>
      </p:sp>
      <p:sp>
        <p:nvSpPr>
          <p:cNvPr id="14" name="Text 8"/>
          <p:cNvSpPr/>
          <p:nvPr/>
        </p:nvSpPr>
        <p:spPr>
          <a:xfrm>
            <a:off x="4656758" y="3202856"/>
            <a:ext cx="3980929" cy="22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Dashboard &amp; visualization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6313" y="3698304"/>
            <a:ext cx="361652" cy="36165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06313" y="4229472"/>
            <a:ext cx="1607344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Jupyter Notebook</a:t>
            </a:r>
            <a:endParaRPr lang="en-US" sz="1250" dirty="0"/>
          </a:p>
        </p:txBody>
      </p:sp>
      <p:sp>
        <p:nvSpPr>
          <p:cNvPr id="17" name="Text 10"/>
          <p:cNvSpPr/>
          <p:nvPr/>
        </p:nvSpPr>
        <p:spPr>
          <a:xfrm>
            <a:off x="506313" y="4511725"/>
            <a:ext cx="3980929" cy="22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Analysis environment</a:t>
            </a:r>
            <a:endParaRPr lang="en-US" sz="11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56758" y="3698304"/>
            <a:ext cx="361652" cy="36165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656758" y="4229472"/>
            <a:ext cx="1607344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GitHub</a:t>
            </a:r>
            <a:endParaRPr lang="en-US" sz="1250" dirty="0"/>
          </a:p>
        </p:txBody>
      </p:sp>
      <p:sp>
        <p:nvSpPr>
          <p:cNvPr id="20" name="Text 12"/>
          <p:cNvSpPr/>
          <p:nvPr/>
        </p:nvSpPr>
        <p:spPr>
          <a:xfrm>
            <a:off x="4656758" y="4511725"/>
            <a:ext cx="3980929" cy="22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Project hosting &amp; portfolio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798" y="298549"/>
            <a:ext cx="3512641" cy="301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Data Cleaning &amp; Preprocessing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1244798" y="790575"/>
            <a:ext cx="1205508" cy="150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Python Workflow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44798" y="1017538"/>
            <a:ext cx="2157040" cy="295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raw dataset was cleaned in Python before SQL analysis using pandas and NumPy.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244798" y="1398910"/>
            <a:ext cx="216991" cy="1355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01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244798" y="1568946"/>
            <a:ext cx="2157040" cy="14288"/>
          </a:xfrm>
          <a:prstGeom prst="rect">
            <a:avLst/>
          </a:prstGeom>
          <a:solidFill>
            <a:srgbClr val="16FFBB"/>
          </a:solidFill>
          <a:ln/>
        </p:spPr>
      </p:sp>
      <p:sp>
        <p:nvSpPr>
          <p:cNvPr id="7" name="Text 5"/>
          <p:cNvSpPr/>
          <p:nvPr/>
        </p:nvSpPr>
        <p:spPr>
          <a:xfrm>
            <a:off x="1244798" y="1651769"/>
            <a:ext cx="1205508" cy="150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Import &amp; Inspect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244798" y="1878732"/>
            <a:ext cx="2157040" cy="295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Loaded datasets with pandas; used </a:t>
            </a:r>
            <a:r>
              <a:rPr lang="en-US" sz="85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.info()</a:t>
            </a:r>
            <a:r>
              <a:rPr 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and </a:t>
            </a:r>
            <a:r>
              <a:rPr lang="en-US" sz="85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.describe()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244798" y="2331913"/>
            <a:ext cx="216991" cy="1355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02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244798" y="2501950"/>
            <a:ext cx="2157040" cy="14288"/>
          </a:xfrm>
          <a:prstGeom prst="rect">
            <a:avLst/>
          </a:prstGeom>
          <a:solidFill>
            <a:srgbClr val="29DDDA"/>
          </a:solidFill>
          <a:ln/>
        </p:spPr>
      </p:sp>
      <p:sp>
        <p:nvSpPr>
          <p:cNvPr id="11" name="Text 9"/>
          <p:cNvSpPr/>
          <p:nvPr/>
        </p:nvSpPr>
        <p:spPr>
          <a:xfrm>
            <a:off x="1244798" y="2584772"/>
            <a:ext cx="1205508" cy="150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Remove Duplicates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244798" y="2811735"/>
            <a:ext cx="2157040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Eliminated duplicate records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244798" y="3117131"/>
            <a:ext cx="216991" cy="1355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03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244798" y="3287167"/>
            <a:ext cx="2157040" cy="14288"/>
          </a:xfrm>
          <a:prstGeom prst="rect">
            <a:avLst/>
          </a:prstGeom>
          <a:solidFill>
            <a:srgbClr val="37A7E7"/>
          </a:solidFill>
          <a:ln/>
        </p:spPr>
      </p:sp>
      <p:sp>
        <p:nvSpPr>
          <p:cNvPr id="15" name="Text 13"/>
          <p:cNvSpPr/>
          <p:nvPr/>
        </p:nvSpPr>
        <p:spPr>
          <a:xfrm>
            <a:off x="1244798" y="3369990"/>
            <a:ext cx="1272108" cy="150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Handle Missing Values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244798" y="3596953"/>
            <a:ext cx="2157040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Applied </a:t>
            </a:r>
            <a:r>
              <a:rPr lang="en-US" sz="85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fillna()</a:t>
            </a:r>
            <a:r>
              <a:rPr 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to address nulls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244798" y="3902348"/>
            <a:ext cx="216991" cy="1355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04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244798" y="4072384"/>
            <a:ext cx="2157040" cy="14288"/>
          </a:xfrm>
          <a:prstGeom prst="rect">
            <a:avLst/>
          </a:prstGeom>
          <a:solidFill>
            <a:srgbClr val="091231"/>
          </a:solidFill>
          <a:ln/>
        </p:spPr>
      </p:sp>
      <p:sp>
        <p:nvSpPr>
          <p:cNvPr id="19" name="Text 17"/>
          <p:cNvSpPr/>
          <p:nvPr/>
        </p:nvSpPr>
        <p:spPr>
          <a:xfrm>
            <a:off x="1244798" y="4155207"/>
            <a:ext cx="1205508" cy="150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Standardize &amp; Export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244798" y="4382170"/>
            <a:ext cx="2157040" cy="295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Standardized column names, converted data types, prepared clean datasets for SQL</a:t>
            </a:r>
            <a:endParaRPr lang="en-US" sz="85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1218" y="1509787"/>
            <a:ext cx="4232746" cy="253960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1036439"/>
            <a:ext cx="342900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7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SQL Analysis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0023" y="1773659"/>
            <a:ext cx="8063954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SQL queries were written to analyze healthcare trends and generate business KPIs across all five tables.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0023" y="2194099"/>
            <a:ext cx="8063954" cy="1083766"/>
          </a:xfrm>
          <a:prstGeom prst="roundRect">
            <a:avLst>
              <a:gd name="adj" fmla="val 21357"/>
            </a:avLst>
          </a:prstGeom>
          <a:solidFill>
            <a:srgbClr val="0A081B"/>
          </a:solidFill>
          <a:ln w="19050">
            <a:solidFill>
              <a:srgbClr val="16FFB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9073" y="2213149"/>
            <a:ext cx="2675260" cy="522833"/>
          </a:xfrm>
          <a:prstGeom prst="roundRect">
            <a:avLst>
              <a:gd name="adj" fmla="val 44270"/>
            </a:avLst>
          </a:prstGeom>
          <a:solidFill>
            <a:srgbClr val="0A081B"/>
          </a:solidFill>
          <a:ln/>
        </p:spPr>
      </p:sp>
      <p:sp>
        <p:nvSpPr>
          <p:cNvPr id="6" name="Text 4"/>
          <p:cNvSpPr/>
          <p:nvPr/>
        </p:nvSpPr>
        <p:spPr>
          <a:xfrm>
            <a:off x="713333" y="2367409"/>
            <a:ext cx="1714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Aggregate Functions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234333" y="2213149"/>
            <a:ext cx="2675260" cy="522833"/>
          </a:xfrm>
          <a:prstGeom prst="rect">
            <a:avLst/>
          </a:prstGeom>
          <a:solidFill>
            <a:srgbClr val="0A081B"/>
          </a:solidFill>
          <a:ln/>
        </p:spPr>
      </p:sp>
      <p:sp>
        <p:nvSpPr>
          <p:cNvPr id="8" name="Shape 6"/>
          <p:cNvSpPr/>
          <p:nvPr/>
        </p:nvSpPr>
        <p:spPr>
          <a:xfrm>
            <a:off x="3234333" y="2213149"/>
            <a:ext cx="19050" cy="522833"/>
          </a:xfrm>
          <a:prstGeom prst="roundRect">
            <a:avLst>
              <a:gd name="adj" fmla="val 1215000"/>
            </a:avLst>
          </a:prstGeom>
          <a:solidFill>
            <a:srgbClr val="0FC3C0"/>
          </a:solidFill>
          <a:ln/>
        </p:spPr>
      </p:sp>
      <p:sp>
        <p:nvSpPr>
          <p:cNvPr id="9" name="Text 7"/>
          <p:cNvSpPr/>
          <p:nvPr/>
        </p:nvSpPr>
        <p:spPr>
          <a:xfrm>
            <a:off x="3388593" y="2367409"/>
            <a:ext cx="181257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GROUP BY &amp; ORDER BY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909593" y="2213149"/>
            <a:ext cx="2675260" cy="522833"/>
          </a:xfrm>
          <a:prstGeom prst="rect">
            <a:avLst/>
          </a:prstGeom>
          <a:solidFill>
            <a:srgbClr val="0A081B"/>
          </a:solidFill>
          <a:ln/>
        </p:spPr>
      </p:sp>
      <p:sp>
        <p:nvSpPr>
          <p:cNvPr id="11" name="Shape 9"/>
          <p:cNvSpPr/>
          <p:nvPr/>
        </p:nvSpPr>
        <p:spPr>
          <a:xfrm>
            <a:off x="5909593" y="2213149"/>
            <a:ext cx="19050" cy="522833"/>
          </a:xfrm>
          <a:prstGeom prst="roundRect">
            <a:avLst>
              <a:gd name="adj" fmla="val 1215000"/>
            </a:avLst>
          </a:prstGeom>
          <a:solidFill>
            <a:srgbClr val="1D8DCD"/>
          </a:solidFill>
          <a:ln/>
        </p:spPr>
      </p:sp>
      <p:sp>
        <p:nvSpPr>
          <p:cNvPr id="12" name="Text 10"/>
          <p:cNvSpPr/>
          <p:nvPr/>
        </p:nvSpPr>
        <p:spPr>
          <a:xfrm>
            <a:off x="6063853" y="2367409"/>
            <a:ext cx="1714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CASE WHEN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59073" y="2735982"/>
            <a:ext cx="4012853" cy="522833"/>
          </a:xfrm>
          <a:prstGeom prst="rect">
            <a:avLst/>
          </a:prstGeom>
          <a:solidFill>
            <a:srgbClr val="0A081B"/>
          </a:solidFill>
          <a:ln/>
        </p:spPr>
      </p:sp>
      <p:sp>
        <p:nvSpPr>
          <p:cNvPr id="14" name="Shape 12"/>
          <p:cNvSpPr/>
          <p:nvPr/>
        </p:nvSpPr>
        <p:spPr>
          <a:xfrm>
            <a:off x="559073" y="2735982"/>
            <a:ext cx="4012853" cy="19050"/>
          </a:xfrm>
          <a:prstGeom prst="roundRect">
            <a:avLst>
              <a:gd name="adj" fmla="val 1215000"/>
            </a:avLst>
          </a:prstGeom>
          <a:solidFill>
            <a:srgbClr val="222B4A"/>
          </a:solidFill>
          <a:ln/>
        </p:spPr>
      </p:sp>
      <p:sp>
        <p:nvSpPr>
          <p:cNvPr id="15" name="Text 13"/>
          <p:cNvSpPr/>
          <p:nvPr/>
        </p:nvSpPr>
        <p:spPr>
          <a:xfrm>
            <a:off x="713333" y="2890242"/>
            <a:ext cx="1714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Subqueries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1926" y="2735982"/>
            <a:ext cx="4012927" cy="522833"/>
          </a:xfrm>
          <a:prstGeom prst="rect">
            <a:avLst/>
          </a:prstGeom>
          <a:solidFill>
            <a:srgbClr val="0A081B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1926" y="2735982"/>
            <a:ext cx="19050" cy="522833"/>
          </a:xfrm>
          <a:prstGeom prst="roundRect">
            <a:avLst>
              <a:gd name="adj" fmla="val 1215000"/>
            </a:avLst>
          </a:prstGeom>
          <a:solidFill>
            <a:srgbClr val="00E5A1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1926" y="2735982"/>
            <a:ext cx="4012927" cy="19050"/>
          </a:xfrm>
          <a:prstGeom prst="roundRect">
            <a:avLst>
              <a:gd name="adj" fmla="val 1215000"/>
            </a:avLst>
          </a:prstGeom>
          <a:solidFill>
            <a:srgbClr val="00E5A1"/>
          </a:solidFill>
          <a:ln/>
        </p:spPr>
      </p:sp>
      <p:sp>
        <p:nvSpPr>
          <p:cNvPr id="19" name="Text 17"/>
          <p:cNvSpPr/>
          <p:nvPr/>
        </p:nvSpPr>
        <p:spPr>
          <a:xfrm>
            <a:off x="4726186" y="2890242"/>
            <a:ext cx="1714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JOIN Operations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0023" y="3451399"/>
            <a:ext cx="8063954" cy="655662"/>
          </a:xfrm>
          <a:prstGeom prst="roundRect">
            <a:avLst>
              <a:gd name="adj" fmla="val 35301"/>
            </a:avLst>
          </a:prstGeom>
          <a:solidFill>
            <a:srgbClr val="022349"/>
          </a:solidFill>
          <a:ln/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283" y="3690193"/>
            <a:ext cx="192881" cy="15426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041425" y="3644205"/>
            <a:ext cx="7408292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Example:</a:t>
            </a:r>
            <a:r>
              <a:rPr lang="en-US" sz="12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Gender distribution query using </a:t>
            </a:r>
            <a:r>
              <a:rPr lang="en-US" sz="1200" dirty="0">
                <a:solidFill>
                  <a:srgbClr val="FFFFFF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COUNT(*)</a:t>
            </a:r>
            <a:r>
              <a:rPr lang="en-US" sz="12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and percentage calculation against total patient count.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722" y="449312"/>
            <a:ext cx="3268266" cy="408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Domain Analysis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14722" y="1138163"/>
            <a:ext cx="8114556" cy="229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Four key areas of the dataset were analyzed to uncover trends in patient care, utilization, costs, and lab results.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14722" y="1525563"/>
            <a:ext cx="3987180" cy="1514252"/>
          </a:xfrm>
          <a:prstGeom prst="roundRect">
            <a:avLst>
              <a:gd name="adj" fmla="val 14569"/>
            </a:avLst>
          </a:prstGeom>
          <a:solidFill>
            <a:srgbClr val="0A081B">
              <a:alpha val="75000"/>
            </a:srgbClr>
          </a:solidFill>
          <a:ln w="19050">
            <a:solidFill>
              <a:srgbClr val="16FFB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3772" y="1544613"/>
            <a:ext cx="3949080" cy="441201"/>
          </a:xfrm>
          <a:prstGeom prst="roundRect">
            <a:avLst>
              <a:gd name="adj" fmla="val 44820"/>
            </a:avLst>
          </a:prstGeom>
          <a:solidFill>
            <a:srgbClr val="0A081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97993" y="1647751"/>
            <a:ext cx="220563" cy="22056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0814" y="2125935"/>
            <a:ext cx="1634133" cy="204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Patient Analysis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80814" y="2414290"/>
            <a:ext cx="3654996" cy="459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Gender, age, blood type, top states, insurance providers, chronic conditions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642024" y="1525563"/>
            <a:ext cx="3987254" cy="1514252"/>
          </a:xfrm>
          <a:prstGeom prst="roundRect">
            <a:avLst>
              <a:gd name="adj" fmla="val 14569"/>
            </a:avLst>
          </a:prstGeom>
          <a:solidFill>
            <a:srgbClr val="0A081B">
              <a:alpha val="75000"/>
            </a:srgbClr>
          </a:solidFill>
          <a:ln w="19050">
            <a:solidFill>
              <a:srgbClr val="29DDD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61074" y="1544613"/>
            <a:ext cx="3949154" cy="441201"/>
          </a:xfrm>
          <a:prstGeom prst="roundRect">
            <a:avLst>
              <a:gd name="adj" fmla="val 44820"/>
            </a:avLst>
          </a:prstGeom>
          <a:solidFill>
            <a:srgbClr val="0A081B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25369" y="1647751"/>
            <a:ext cx="220563" cy="22056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08116" y="2125935"/>
            <a:ext cx="1634133" cy="204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Visit Analysis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808116" y="2414290"/>
            <a:ext cx="3655070" cy="459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Visits by type, status breakdown, common diagnoses, follow-up rates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14722" y="3179936"/>
            <a:ext cx="3987180" cy="1514252"/>
          </a:xfrm>
          <a:prstGeom prst="roundRect">
            <a:avLst>
              <a:gd name="adj" fmla="val 14569"/>
            </a:avLst>
          </a:prstGeom>
          <a:solidFill>
            <a:srgbClr val="0A081B">
              <a:alpha val="75000"/>
            </a:srgbClr>
          </a:solidFill>
          <a:ln w="19050">
            <a:solidFill>
              <a:srgbClr val="37A7E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33772" y="3198986"/>
            <a:ext cx="3949080" cy="441201"/>
          </a:xfrm>
          <a:prstGeom prst="roundRect">
            <a:avLst>
              <a:gd name="adj" fmla="val 44820"/>
            </a:avLst>
          </a:prstGeom>
          <a:solidFill>
            <a:srgbClr val="0A081B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97993" y="3302124"/>
            <a:ext cx="220563" cy="22056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0814" y="3780309"/>
            <a:ext cx="1634133" cy="204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Treatment Analysis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80814" y="4068663"/>
            <a:ext cx="3654996" cy="459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Treatment types, average cost, most expensive procedures, outcomes, status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642024" y="3179936"/>
            <a:ext cx="3987254" cy="1514252"/>
          </a:xfrm>
          <a:prstGeom prst="roundRect">
            <a:avLst>
              <a:gd name="adj" fmla="val 14569"/>
            </a:avLst>
          </a:prstGeom>
          <a:solidFill>
            <a:srgbClr val="0A081B">
              <a:alpha val="75000"/>
            </a:srgbClr>
          </a:solidFill>
          <a:ln w="19050">
            <a:solidFill>
              <a:srgbClr val="09123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661074" y="3198986"/>
            <a:ext cx="3949154" cy="441201"/>
          </a:xfrm>
          <a:prstGeom prst="roundRect">
            <a:avLst>
              <a:gd name="adj" fmla="val 44820"/>
            </a:avLst>
          </a:prstGeom>
          <a:solidFill>
            <a:srgbClr val="0A081B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25369" y="3302124"/>
            <a:ext cx="220563" cy="22056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808116" y="3780309"/>
            <a:ext cx="1634133" cy="204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Lab Test Analysis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4808116" y="4068663"/>
            <a:ext cx="3655070" cy="459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Abnormal result rates, most common tests, reference range analysis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131" y="476399"/>
            <a:ext cx="4342209" cy="415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Key Performance Indicators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3131" y="1255961"/>
            <a:ext cx="3958382" cy="4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850"/>
              </a:lnSpc>
              <a:buNone/>
            </a:pPr>
            <a:r>
              <a:rPr lang="en-US" sz="38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9</a:t>
            </a:r>
            <a:endParaRPr lang="en-US" sz="3850" dirty="0"/>
          </a:p>
        </p:txBody>
      </p:sp>
      <p:sp>
        <p:nvSpPr>
          <p:cNvPr id="4" name="Text 2"/>
          <p:cNvSpPr/>
          <p:nvPr/>
        </p:nvSpPr>
        <p:spPr>
          <a:xfrm>
            <a:off x="1671861" y="1932533"/>
            <a:ext cx="1660922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KPIs Tracked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23131" y="2226990"/>
            <a:ext cx="3958382" cy="235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Core metrics across patients, visits, treatments, and lab tests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662488" y="1255961"/>
            <a:ext cx="3958382" cy="4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850"/>
              </a:lnSpc>
              <a:buNone/>
            </a:pPr>
            <a:r>
              <a:rPr lang="en-US" sz="38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5</a:t>
            </a:r>
            <a:endParaRPr lang="en-US" sz="3850" dirty="0"/>
          </a:p>
        </p:txBody>
      </p:sp>
      <p:sp>
        <p:nvSpPr>
          <p:cNvPr id="7" name="Text 5"/>
          <p:cNvSpPr/>
          <p:nvPr/>
        </p:nvSpPr>
        <p:spPr>
          <a:xfrm>
            <a:off x="5811217" y="1932533"/>
            <a:ext cx="1660922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Data Tables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62488" y="2226990"/>
            <a:ext cx="3958382" cy="235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Patient, Doctor, Visit, Treatment, Lab Test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23131" y="2826767"/>
            <a:ext cx="3958382" cy="4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850"/>
              </a:lnSpc>
              <a:buNone/>
            </a:pPr>
            <a:r>
              <a:rPr lang="en-US" sz="38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4</a:t>
            </a:r>
            <a:endParaRPr lang="en-US" sz="3850" dirty="0"/>
          </a:p>
        </p:txBody>
      </p:sp>
      <p:sp>
        <p:nvSpPr>
          <p:cNvPr id="10" name="Text 8"/>
          <p:cNvSpPr/>
          <p:nvPr/>
        </p:nvSpPr>
        <p:spPr>
          <a:xfrm>
            <a:off x="1671861" y="3503340"/>
            <a:ext cx="1660922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Analysis Domains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23131" y="3797796"/>
            <a:ext cx="3958382" cy="235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Patient, Visit, Treatment, Lab Test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662488" y="2826767"/>
            <a:ext cx="3958382" cy="4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850"/>
              </a:lnSpc>
              <a:buNone/>
            </a:pPr>
            <a:r>
              <a:rPr lang="en-US" sz="38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3</a:t>
            </a:r>
            <a:endParaRPr lang="en-US" sz="3850" dirty="0"/>
          </a:p>
        </p:txBody>
      </p:sp>
      <p:sp>
        <p:nvSpPr>
          <p:cNvPr id="13" name="Text 11"/>
          <p:cNvSpPr/>
          <p:nvPr/>
        </p:nvSpPr>
        <p:spPr>
          <a:xfrm>
            <a:off x="5811217" y="3503340"/>
            <a:ext cx="1660922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Core Tools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62488" y="3797796"/>
            <a:ext cx="3958382" cy="235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Python, SQL, Power BI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23131" y="4196135"/>
            <a:ext cx="8097738" cy="470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KPIs include Total Patients, Total Doctors, Total Visits, Total Treatments, Total Lab Tests, Average Patient Age, Follow-Up Rate, Average Treatment Cost, Abnormal Test Rate, and Doctor Workload.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488007"/>
            <a:ext cx="342900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7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Power BI Dashboard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0023" y="1225228"/>
            <a:ext cx="8063954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 interactive dashboard was created to visualize healthcare KPIs and trends for decision-makers.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0023" y="1645667"/>
            <a:ext cx="3954810" cy="900410"/>
          </a:xfrm>
          <a:prstGeom prst="roundRect">
            <a:avLst>
              <a:gd name="adj" fmla="val 25706"/>
            </a:avLst>
          </a:prstGeom>
          <a:solidFill>
            <a:srgbClr val="0A081B"/>
          </a:solidFill>
          <a:ln w="19050">
            <a:solidFill>
              <a:srgbClr val="16FFB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333" y="1818977"/>
            <a:ext cx="1714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KPI Cards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13333" y="2125861"/>
            <a:ext cx="3608189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High-level metrics at a glance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49093" y="1645667"/>
            <a:ext cx="3954884" cy="900410"/>
          </a:xfrm>
          <a:prstGeom prst="roundRect">
            <a:avLst>
              <a:gd name="adj" fmla="val 25706"/>
            </a:avLst>
          </a:prstGeom>
          <a:solidFill>
            <a:srgbClr val="0A081B"/>
          </a:solidFill>
          <a:ln w="19050">
            <a:solidFill>
              <a:srgbClr val="29DD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22403" y="1818977"/>
            <a:ext cx="179732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Patient Demographics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822403" y="2125861"/>
            <a:ext cx="3608263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Age, gender, and geographic breakdowns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0023" y="2700338"/>
            <a:ext cx="3954810" cy="900410"/>
          </a:xfrm>
          <a:prstGeom prst="roundRect">
            <a:avLst>
              <a:gd name="adj" fmla="val 25706"/>
            </a:avLst>
          </a:prstGeom>
          <a:solidFill>
            <a:srgbClr val="0A081B"/>
          </a:solidFill>
          <a:ln w="19050">
            <a:solidFill>
              <a:srgbClr val="37A7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333" y="2873648"/>
            <a:ext cx="1714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Treatment Costs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13333" y="3180531"/>
            <a:ext cx="3608189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Expense analysis by type and outcome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49093" y="2700338"/>
            <a:ext cx="3954884" cy="900410"/>
          </a:xfrm>
          <a:prstGeom prst="roundRect">
            <a:avLst>
              <a:gd name="adj" fmla="val 25706"/>
            </a:avLst>
          </a:prstGeom>
          <a:solidFill>
            <a:srgbClr val="0A081B"/>
          </a:solidFill>
          <a:ln w="19050">
            <a:solidFill>
              <a:srgbClr val="09123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22403" y="2873648"/>
            <a:ext cx="1714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Visit Trends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822403" y="3180531"/>
            <a:ext cx="3608263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Volume, status, and follow-up rates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0023" y="3755008"/>
            <a:ext cx="3954810" cy="900410"/>
          </a:xfrm>
          <a:prstGeom prst="roundRect">
            <a:avLst>
              <a:gd name="adj" fmla="val 25706"/>
            </a:avLst>
          </a:prstGeom>
          <a:solidFill>
            <a:srgbClr val="0A081B"/>
          </a:solidFill>
          <a:ln w="19050">
            <a:solidFill>
              <a:srgbClr val="16FFB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333" y="3928318"/>
            <a:ext cx="1714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Lab Test Results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13333" y="4235202"/>
            <a:ext cx="3608189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Abnormal rates and test patterns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49093" y="3755008"/>
            <a:ext cx="3954884" cy="900410"/>
          </a:xfrm>
          <a:prstGeom prst="roundRect">
            <a:avLst>
              <a:gd name="adj" fmla="val 25706"/>
            </a:avLst>
          </a:prstGeom>
          <a:solidFill>
            <a:srgbClr val="0A081B"/>
          </a:solidFill>
          <a:ln w="19050">
            <a:solidFill>
              <a:srgbClr val="29DD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22403" y="3928318"/>
            <a:ext cx="1714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Doctor Performance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822403" y="4235202"/>
            <a:ext cx="3608263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Workload distribution insights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3281" y="380702"/>
            <a:ext cx="4757589" cy="354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Insights, Recommendations &amp; Skills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53281" y="1000199"/>
            <a:ext cx="1419820" cy="177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3281" y="1283494"/>
            <a:ext cx="3762821" cy="1045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Common chronic conditions identified across patient demographics</a:t>
            </a:r>
            <a:endParaRPr lang="en-US" sz="100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Treatment costs and expensive procedures analyzed</a:t>
            </a:r>
            <a:endParaRPr lang="en-US" sz="100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Follow-up rates and abnormal lab test percentages measured</a:t>
            </a:r>
            <a:endParaRPr lang="en-US" sz="100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Doctor workload distribution studied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53281" y="2434530"/>
            <a:ext cx="1419820" cy="177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3281" y="2717825"/>
            <a:ext cx="3762821" cy="1269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Improve patient follow-up systems for better healthcare management</a:t>
            </a:r>
            <a:endParaRPr lang="en-US" sz="100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Monitor abnormal lab tests for early disease detection</a:t>
            </a:r>
            <a:endParaRPr lang="en-US" sz="100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Optimize healthcare resources and treatment costs</a:t>
            </a:r>
            <a:endParaRPr lang="en-US" sz="100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Use dashboard insights for hospital decision-making</a:t>
            </a:r>
            <a:endParaRPr lang="en-US" sz="100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Improve preventive healthcare programs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32511" y="1000199"/>
            <a:ext cx="1419820" cy="177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Skills Demonstrated</a:t>
            </a:r>
            <a:endParaRPr lang="en-US" sz="1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80434" y="1300646"/>
            <a:ext cx="191616" cy="19161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147742" y="1296665"/>
            <a:ext cx="1419820" cy="177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Data Cleaning &amp; EDA</a:t>
            </a:r>
            <a:endParaRPr lang="en-US" sz="1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80434" y="1899531"/>
            <a:ext cx="191616" cy="19161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47742" y="1895549"/>
            <a:ext cx="2519139" cy="177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SQL Query Writing &amp; KPI Development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80434" y="2498415"/>
            <a:ext cx="191616" cy="19161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147742" y="2494434"/>
            <a:ext cx="2676302" cy="177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Dashboard Development &amp; Visualization</a:t>
            </a:r>
            <a:endParaRPr lang="en-US" sz="1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80434" y="3097299"/>
            <a:ext cx="191616" cy="19161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147742" y="3093318"/>
            <a:ext cx="1867198" cy="177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Business Insight Generation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4732511" y="3599557"/>
            <a:ext cx="3762821" cy="1044178"/>
          </a:xfrm>
          <a:prstGeom prst="roundRect">
            <a:avLst>
              <a:gd name="adj" fmla="val 18357"/>
            </a:avLst>
          </a:prstGeom>
          <a:solidFill>
            <a:srgbClr val="183A13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0280" y="3790280"/>
            <a:ext cx="159693" cy="127769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147742" y="3737297"/>
            <a:ext cx="3219822" cy="74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This project demonstrates a complete healthcare analytics workflow — from data cleaning to dashboard creation — supporting business and operational decisions in healthcare.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641</Words>
  <Application>Microsoft Office PowerPoint</Application>
  <PresentationFormat>On-screen Show (16:9)</PresentationFormat>
  <Paragraphs>127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Consolas</vt:lpstr>
      <vt:lpstr>Spline Sans Bold</vt:lpstr>
      <vt:lpstr>Barlow</vt:lpstr>
      <vt:lpstr>Spline Sans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bhumika talware</cp:lastModifiedBy>
  <cp:revision>1</cp:revision>
  <dcterms:created xsi:type="dcterms:W3CDTF">2026-05-12T20:11:52Z</dcterms:created>
  <dcterms:modified xsi:type="dcterms:W3CDTF">2026-05-12T20:13:57Z</dcterms:modified>
</cp:coreProperties>
</file>